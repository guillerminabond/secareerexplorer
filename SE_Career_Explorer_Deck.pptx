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320040"/>
            <a:ext cx="1691640" cy="41148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50608" y="329184"/>
            <a:ext cx="1664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AF7F4"/>
                </a:solidFill>
                <a:latin typeface="Trebuchet MS"/>
              </a:rPr>
              <a:t>HBS Social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AF7F4"/>
                </a:solidFill>
                <a:latin typeface="Georgia"/>
              </a:rPr>
              <a:t>SE Career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E8E4E0"/>
                </a:solidFill>
                <a:latin typeface="Trebuchet MS"/>
              </a:rPr>
              <a:t>A living database of impact organizations
built for the next generation of social impact leaders.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931920"/>
            <a:ext cx="3200400" cy="457200"/>
          </a:xfrm>
          <a:prstGeom prst="rect">
            <a:avLst/>
          </a:prstGeom>
          <a:solidFill>
            <a:srgbClr val="7A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941063"/>
            <a:ext cx="3154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AF7F4"/>
                </a:solidFill>
                <a:latin typeface="Trebuchet MS"/>
              </a:rPr>
              <a:t>secareerexplorer.vercel.app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4480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7B"/>
                </a:solidFill>
                <a:latin typeface="Trebuchet MS"/>
              </a:rPr>
              <a:t>Built by Guillermina Bond, HBS '26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7F4"/>
                </a:solidFill>
                <a:latin typeface="Trebuchet MS"/>
              </a:rPr>
              <a:t>THE GAP WE'RE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1A1A2E"/>
                </a:solidFill>
                <a:latin typeface="Georgia"/>
              </a:rPr>
              <a:t>Impact careers are hard to navigate —
not because the orgs don't exist, but because no one has mapped them.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79" y="2423160"/>
            <a:ext cx="2606040" cy="23317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7179" y="2423160"/>
            <a:ext cx="64008" cy="233172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7" y="2542032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Trebuchet MS"/>
              </a:rPr>
              <a:t>Fragmented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7" y="3017520"/>
            <a:ext cx="2313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7B"/>
                </a:solidFill>
                <a:latin typeface="Trebuchet MS"/>
              </a:rPr>
              <a:t>Hundreds of nonprofits, foundations, impact funds, hybrids, and co-ops — with no single place to compare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79" y="2423160"/>
            <a:ext cx="2606040" cy="23317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8979" y="2423160"/>
            <a:ext cx="64008" cy="233172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147" y="2542032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Trebuchet MS"/>
              </a:rPr>
              <a:t>Geography blind spots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147" y="3017520"/>
            <a:ext cx="2313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7B"/>
                </a:solidFill>
                <a:latin typeface="Trebuchet MS"/>
              </a:rPr>
              <a:t>Most career resources skew heavily US and Anglo-Saxon. Global orgs and non-traditional models are nearly invisible.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779" y="2423160"/>
            <a:ext cx="2606040" cy="233172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79" y="2423160"/>
            <a:ext cx="64008" cy="233172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7" y="2542032"/>
            <a:ext cx="2313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Trebuchet MS"/>
              </a:rPr>
              <a:t>No filters that matter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7" y="3017520"/>
            <a:ext cx="231343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7B"/>
                </a:solidFill>
                <a:latin typeface="Trebuchet MS"/>
              </a:rPr>
              <a:t>Students care about cause area, population served, org model, and region — not just job title.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85A"/>
                </a:solidFill>
                <a:latin typeface="Trebuchet MS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AF7F4"/>
                </a:solidFill>
                <a:latin typeface="Georgia"/>
              </a:rPr>
              <a:t>A searchable,
filterable database
of impact orgs.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715768"/>
            <a:ext cx="73152" cy="201168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4E0"/>
                </a:solidFill>
                <a:latin typeface="Trebuchet MS"/>
              </a:rPr>
              <a:t>Filter by cause area, org type, region &amp; target population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136391"/>
            <a:ext cx="73152" cy="201168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072384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4E0"/>
                </a:solidFill>
                <a:latin typeface="Trebuchet MS"/>
              </a:rPr>
              <a:t>Org profiles with mission, model, size &amp; career entry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557015"/>
            <a:ext cx="73152" cy="201168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930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4E0"/>
                </a:solidFill>
                <a:latin typeface="Trebuchet MS"/>
              </a:rPr>
              <a:t>Dashboard view with analytics across the full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977640"/>
            <a:ext cx="73152" cy="201168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91363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4E0"/>
                </a:solidFill>
                <a:latin typeface="Trebuchet MS"/>
              </a:rPr>
              <a:t>"Learn More" section with career path guides &amp; resources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398264"/>
            <a:ext cx="73152" cy="201168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3342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E4E0"/>
                </a:solidFill>
                <a:latin typeface="Trebuchet MS"/>
              </a:rPr>
              <a:t>Nominate orgs to keep the database growing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0040"/>
            <a:ext cx="4480560" cy="443484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320040"/>
            <a:ext cx="4480560" cy="4572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2402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7B"/>
                </a:solidFill>
                <a:latin typeface="Trebuchet MS"/>
              </a:rPr>
              <a:t>[ Screenshot: Explore view
with filter bar active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434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51C30"/>
                </a:solidFill>
                <a:latin typeface="Trebuchet MS"/>
              </a:rPr>
              <a:t>secareerexplorer.vercel.app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4688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F7F4"/>
                </a:solidFill>
                <a:latin typeface="Trebuchet MS"/>
              </a:rPr>
              <a:t>HOW IT'S ORGANIZED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05840"/>
            <a:ext cx="3931920" cy="16002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4008" cy="16002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Trebuchet MS"/>
              </a:rPr>
              <a:t>Explore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57276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Trebuchet MS"/>
              </a:rPr>
              <a:t>Smart search + filter by cause, region, org type, and population served. Browse orgs as cards or a sortable list.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05840"/>
            <a:ext cx="3931920" cy="16002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005840"/>
            <a:ext cx="64008" cy="16002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1430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Trebuchet MS"/>
              </a:rPr>
              <a:t>Database &amp;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57276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Trebuchet MS"/>
              </a:rPr>
              <a:t>Full table of all organizations with analytics — how many orgs per geography, cause area, and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788920"/>
            <a:ext cx="3931920" cy="16002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788920"/>
            <a:ext cx="64008" cy="16002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92607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Trebuchet MS"/>
              </a:rPr>
              <a:t>Learn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335584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Trebuchet MS"/>
              </a:rPr>
              <a:t>Career path breakdowns, cause area primers, and org-type guides — curated for students new to the sector.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3931920" cy="1600200"/>
          </a:xfrm>
          <a:prstGeom prst="rect">
            <a:avLst/>
          </a:prstGeom>
          <a:solidFill>
            <a:srgbClr val="E8E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1600200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2926079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Trebuchet MS"/>
              </a:rPr>
              <a:t>Additional Resources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3355848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7B"/>
                </a:solidFill>
                <a:latin typeface="Trebuchet MS"/>
              </a:rPr>
              <a:t>Curated job boards, fellowships, newsletters, and communities. Filterable by region and org type.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26280"/>
            <a:ext cx="8503920" cy="347472"/>
          </a:xfrm>
          <a:prstGeom prst="rect">
            <a:avLst/>
          </a:prstGeom>
          <a:solidFill>
            <a:srgbClr val="D8D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1A1A2E"/>
                </a:solidFill>
                <a:latin typeface="Trebuchet MS"/>
              </a:rPr>
              <a:t>[ Replace with screenshot of the All Organizations dashboard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AF7F4"/>
                </a:solidFill>
                <a:latin typeface="Georgia"/>
              </a:rPr>
              <a:t>Where we need your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0700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C0C0"/>
                </a:solidFill>
                <a:latin typeface="Trebuchet MS"/>
              </a:rPr>
              <a:t>The database grows through nominations from people who know the sector.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019" y="1874519"/>
            <a:ext cx="2697480" cy="2651760"/>
          </a:xfrm>
          <a:prstGeom prst="rect">
            <a:avLst/>
          </a:prstGeom>
          <a:solidFill>
            <a:srgbClr val="8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899" y="19933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AF7F4"/>
                </a:solidFill>
                <a:latin typeface="Trebuchet MS"/>
              </a:rPr>
              <a:t>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899" y="25786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F7F4"/>
                </a:solidFill>
                <a:latin typeface="Trebuchet MS"/>
              </a:rPr>
              <a:t>Arts &amp; Culture
in Europe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899" y="321868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C0C0"/>
                </a:solidFill>
                <a:latin typeface="Trebuchet MS"/>
              </a:rPr>
              <a:t>Almost no coverage of cultural institutions, creative sector organizations, or arts-for-impact work across European geographies.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3259" y="1874519"/>
            <a:ext cx="2697480" cy="2651760"/>
          </a:xfrm>
          <a:prstGeom prst="rect">
            <a:avLst/>
          </a:prstGeom>
          <a:solidFill>
            <a:srgbClr val="8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6139" y="19933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AF7F4"/>
                </a:solidFill>
                <a:latin typeface="Trebuchet MS"/>
              </a:rPr>
              <a:t>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6139" y="25786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F7F4"/>
                </a:solidFill>
                <a:latin typeface="Trebuchet MS"/>
              </a:rPr>
              <a:t>Organizations serving
people with disabilities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6139" y="321868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C0C0"/>
                </a:solidFill>
                <a:latin typeface="Trebuchet MS"/>
              </a:rPr>
              <a:t>A growing career interest — but nearly absent from the current database, across all geographies and org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6499" y="1874519"/>
            <a:ext cx="2697480" cy="2651760"/>
          </a:xfrm>
          <a:prstGeom prst="rect">
            <a:avLst/>
          </a:prstGeom>
          <a:solidFill>
            <a:srgbClr val="8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9379" y="19933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AF7F4"/>
                </a:solidFill>
                <a:latin typeface="Trebuchet MS"/>
              </a:rPr>
              <a:t>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9379" y="257860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F7F4"/>
                </a:solidFill>
                <a:latin typeface="Trebuchet MS"/>
              </a:rPr>
              <a:t>Non-US orgs &amp;
non-traditional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79" y="3218688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C0C0"/>
                </a:solidFill>
                <a:latin typeface="Trebuchet MS"/>
              </a:rPr>
              <a:t>Cooperatives, social enterprises, hybrid structures, and government-adjacent orgs operating outside the US nonprofit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663440"/>
            <a:ext cx="548640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AF7F4"/>
                </a:solidFill>
                <a:latin typeface="Trebuchet MS"/>
              </a:rPr>
              <a:t>Nominate →  secareerexplorer.vercel.app/all-orgs/nominate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