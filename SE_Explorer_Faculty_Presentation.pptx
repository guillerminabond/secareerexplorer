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5" r:id="rId3"/>
  </p:sldMasterIdLst>
  <p:notesMasterIdLst>
    <p:notesMasterId r:id="rId4"/>
  </p:notesMasterIdLst>
  <p:sldIdLst>
    <p:sldId id="256" r:id="rId5"/>
    <p:sldId id="257" r:id="rId6"/>
    <p:sldId id="258" r:id="rId7"/>
    <p:sldId id="263" r:id="rId12"/>
    <p:sldId id="260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12" Type="http://schemas.openxmlformats.org/officeDocument/2006/relationships/slide" Target="slides/slide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Semi</a:t>
            </a:r>
            <a:endParaRPr/>
          </a:p>
        </p:txBody>
      </p:sp>
      <p:sp>
        <p:nvSpPr>
          <p:cNvPr id="151" name="Google Shape;1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2d0d5676d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Guille</a:t>
            </a:r>
            <a:endParaRPr/>
          </a:p>
        </p:txBody>
      </p:sp>
      <p:sp>
        <p:nvSpPr>
          <p:cNvPr id="158" name="Google Shape;158;g3d2d0d5676d_0_1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2d0d5676d_0_1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2d0d5676d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d2d0d5676d_0_1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6c2bb12a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96c2bb12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96c2bb12a7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11" Type="http://schemas.openxmlformats.org/officeDocument/2006/relationships/image" Target="../media/image20.png"/><Relationship Id="rId10" Type="http://schemas.openxmlformats.org/officeDocument/2006/relationships/image" Target="../media/image4.png"/><Relationship Id="rId12" Type="http://schemas.openxmlformats.org/officeDocument/2006/relationships/image" Target="../media/image21.png"/><Relationship Id="rId9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Relationship Id="rId8" Type="http://schemas.openxmlformats.org/officeDocument/2006/relationships/image" Target="../media/image5.png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2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0" y="0"/>
            <a:ext cx="9144000" cy="352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457200" y="1847850"/>
            <a:ext cx="8089800" cy="79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457200" y="2581277"/>
            <a:ext cx="80898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44444"/>
              </a:lnSpc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1800"/>
              <a:buNone/>
              <a:defRPr>
                <a:solidFill>
                  <a:srgbClr val="B4888B"/>
                </a:solidFill>
              </a:defRPr>
            </a:lvl2pPr>
            <a:lvl3pPr lvl="2" algn="ctr">
              <a:lnSpc>
                <a:spcPct val="162500"/>
              </a:lnSpc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1600"/>
              <a:buNone/>
              <a:defRPr>
                <a:solidFill>
                  <a:srgbClr val="B4888B"/>
                </a:solidFill>
              </a:defRPr>
            </a:lvl3pPr>
            <a:lvl4pPr lvl="3" algn="ctr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1400"/>
              <a:buNone/>
              <a:defRPr>
                <a:solidFill>
                  <a:srgbClr val="B4888B"/>
                </a:solidFill>
              </a:defRPr>
            </a:lvl4pPr>
            <a:lvl5pPr lvl="4" algn="ctr">
              <a:lnSpc>
                <a:spcPct val="216666"/>
              </a:lnSpc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1200"/>
              <a:buNone/>
              <a:defRPr>
                <a:solidFill>
                  <a:srgbClr val="B4888B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2000"/>
              <a:buNone/>
              <a:defRPr>
                <a:solidFill>
                  <a:srgbClr val="B4888B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2000"/>
              <a:buNone/>
              <a:defRPr>
                <a:solidFill>
                  <a:srgbClr val="B4888B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2000"/>
              <a:buNone/>
              <a:defRPr>
                <a:solidFill>
                  <a:srgbClr val="B4888B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2000"/>
              <a:buNone/>
              <a:defRPr>
                <a:solidFill>
                  <a:srgbClr val="B4888B"/>
                </a:solidFill>
              </a:defRPr>
            </a:lvl9pPr>
          </a:lstStyle>
          <a:p/>
        </p:txBody>
      </p:sp>
      <p:sp>
        <p:nvSpPr>
          <p:cNvPr id="19" name="Google Shape;19;p2"/>
          <p:cNvSpPr/>
          <p:nvPr/>
        </p:nvSpPr>
        <p:spPr>
          <a:xfrm>
            <a:off x="520700" y="4905717"/>
            <a:ext cx="3108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Copyright © President &amp; Fellows of Harvard College</a:t>
            </a:r>
            <a:endParaRPr/>
          </a:p>
        </p:txBody>
      </p:sp>
      <p:cxnSp>
        <p:nvCxnSpPr>
          <p:cNvPr id="20" name="Google Shape;20;p2"/>
          <p:cNvCxnSpPr/>
          <p:nvPr/>
        </p:nvCxnSpPr>
        <p:spPr>
          <a:xfrm>
            <a:off x="0" y="3575143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2"/>
          <p:cNvCxnSpPr/>
          <p:nvPr/>
        </p:nvCxnSpPr>
        <p:spPr>
          <a:xfrm>
            <a:off x="0" y="3527518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hbs_lockupB_condensed_1C_k.eps" id="22" name="Google Shape;2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0699" y="3867150"/>
            <a:ext cx="3826263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1">
  <p:cSld name="Divider Slide 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457200" y="3787379"/>
            <a:ext cx="77724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E8C86"/>
              </a:buClr>
              <a:buSzPts val="3000"/>
              <a:buFont typeface="Arial"/>
              <a:buNone/>
              <a:defRPr b="0" sz="3000" cap="none">
                <a:solidFill>
                  <a:srgbClr val="2E8C8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457200" y="4286250"/>
            <a:ext cx="777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44444"/>
              </a:lnSpc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1800"/>
              <a:buNone/>
              <a:defRPr sz="1800">
                <a:solidFill>
                  <a:srgbClr val="B4888B"/>
                </a:solidFill>
              </a:defRPr>
            </a:lvl2pPr>
            <a:lvl3pPr indent="-228600" lvl="2" marL="1371600" algn="l">
              <a:lnSpc>
                <a:spcPct val="162500"/>
              </a:lnSpc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1600"/>
              <a:buNone/>
              <a:defRPr sz="1600">
                <a:solidFill>
                  <a:srgbClr val="B4888B"/>
                </a:solidFill>
              </a:defRPr>
            </a:lvl3pPr>
            <a:lvl4pPr indent="-228600" lvl="3" marL="1828800" algn="l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1400"/>
              <a:buNone/>
              <a:defRPr sz="1400">
                <a:solidFill>
                  <a:srgbClr val="B4888B"/>
                </a:solidFill>
              </a:defRPr>
            </a:lvl4pPr>
            <a:lvl5pPr indent="-228600" lvl="4" marL="2286000" algn="l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1400"/>
              <a:buNone/>
              <a:defRPr sz="1400">
                <a:solidFill>
                  <a:srgbClr val="B4888B"/>
                </a:solidFill>
              </a:defRPr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1400"/>
              <a:buNone/>
              <a:defRPr sz="1400">
                <a:solidFill>
                  <a:srgbClr val="B4888B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B4888B"/>
              </a:buClr>
              <a:buSzPts val="1400"/>
              <a:buNone/>
              <a:defRPr sz="1400">
                <a:solidFill>
                  <a:srgbClr val="B4888B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B4888B"/>
              </a:buClr>
              <a:buSzPts val="1400"/>
              <a:buNone/>
              <a:defRPr sz="1400">
                <a:solidFill>
                  <a:srgbClr val="B4888B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B4888B"/>
              </a:buClr>
              <a:buSzPts val="1400"/>
              <a:buNone/>
              <a:defRPr sz="1400">
                <a:solidFill>
                  <a:srgbClr val="B4888B"/>
                </a:solidFill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3"/>
          <p:cNvSpPr/>
          <p:nvPr>
            <p:ph idx="2" type="pic"/>
          </p:nvPr>
        </p:nvSpPr>
        <p:spPr>
          <a:xfrm>
            <a:off x="6419495" y="1489165"/>
            <a:ext cx="20877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3"/>
          <p:cNvSpPr/>
          <p:nvPr>
            <p:ph idx="3" type="pic"/>
          </p:nvPr>
        </p:nvSpPr>
        <p:spPr>
          <a:xfrm>
            <a:off x="1" y="0"/>
            <a:ext cx="6355200" cy="35466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3"/>
          <p:cNvSpPr/>
          <p:nvPr>
            <p:ph idx="4" type="pic"/>
          </p:nvPr>
        </p:nvSpPr>
        <p:spPr>
          <a:xfrm>
            <a:off x="6419495" y="0"/>
            <a:ext cx="2783400" cy="1428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2">
  <p:cSld name="Divider Slide 2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457200" y="2771372"/>
            <a:ext cx="77724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E8C86"/>
              </a:buClr>
              <a:buSzPts val="3000"/>
              <a:buFont typeface="Arial"/>
              <a:buNone/>
              <a:defRPr b="0" sz="3000" cap="none">
                <a:solidFill>
                  <a:srgbClr val="2E8C8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457200" y="3285724"/>
            <a:ext cx="77724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44444"/>
              </a:lnSpc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1800"/>
              <a:buNone/>
              <a:defRPr sz="1800">
                <a:solidFill>
                  <a:srgbClr val="B4888B"/>
                </a:solidFill>
              </a:defRPr>
            </a:lvl2pPr>
            <a:lvl3pPr indent="-228600" lvl="2" marL="1371600" algn="l">
              <a:lnSpc>
                <a:spcPct val="162500"/>
              </a:lnSpc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1600"/>
              <a:buNone/>
              <a:defRPr sz="1600">
                <a:solidFill>
                  <a:srgbClr val="B4888B"/>
                </a:solidFill>
              </a:defRPr>
            </a:lvl3pPr>
            <a:lvl4pPr indent="-228600" lvl="3" marL="1828800" algn="l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1400"/>
              <a:buNone/>
              <a:defRPr sz="1400">
                <a:solidFill>
                  <a:srgbClr val="B4888B"/>
                </a:solidFill>
              </a:defRPr>
            </a:lvl4pPr>
            <a:lvl5pPr indent="-228600" lvl="4" marL="2286000" algn="l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1400"/>
              <a:buNone/>
              <a:defRPr sz="1400">
                <a:solidFill>
                  <a:srgbClr val="B4888B"/>
                </a:solidFill>
              </a:defRPr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1400"/>
              <a:buNone/>
              <a:defRPr sz="1400">
                <a:solidFill>
                  <a:srgbClr val="B4888B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B4888B"/>
              </a:buClr>
              <a:buSzPts val="1400"/>
              <a:buNone/>
              <a:defRPr sz="1400">
                <a:solidFill>
                  <a:srgbClr val="B4888B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B4888B"/>
              </a:buClr>
              <a:buSzPts val="1400"/>
              <a:buNone/>
              <a:defRPr sz="1400">
                <a:solidFill>
                  <a:srgbClr val="B4888B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B4888B"/>
              </a:buClr>
              <a:buSzPts val="1400"/>
              <a:buNone/>
              <a:defRPr sz="1400">
                <a:solidFill>
                  <a:srgbClr val="B4888B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4"/>
          <p:cNvSpPr/>
          <p:nvPr>
            <p:ph idx="2" type="pic"/>
          </p:nvPr>
        </p:nvSpPr>
        <p:spPr>
          <a:xfrm>
            <a:off x="0" y="1314450"/>
            <a:ext cx="2304300" cy="10287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4"/>
          <p:cNvSpPr/>
          <p:nvPr>
            <p:ph idx="3" type="pic"/>
          </p:nvPr>
        </p:nvSpPr>
        <p:spPr>
          <a:xfrm>
            <a:off x="2353056" y="1314450"/>
            <a:ext cx="2231100" cy="10287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"/>
          <p:cNvSpPr/>
          <p:nvPr>
            <p:ph idx="4" type="pic"/>
          </p:nvPr>
        </p:nvSpPr>
        <p:spPr>
          <a:xfrm>
            <a:off x="4632960" y="1314450"/>
            <a:ext cx="2231100" cy="10287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4"/>
          <p:cNvSpPr/>
          <p:nvPr>
            <p:ph idx="5" type="pic"/>
          </p:nvPr>
        </p:nvSpPr>
        <p:spPr>
          <a:xfrm>
            <a:off x="6912864" y="1314450"/>
            <a:ext cx="2231100" cy="1028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with Subtitle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457200" y="400050"/>
            <a:ext cx="8266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457200" y="1200150"/>
            <a:ext cx="82662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E8C86"/>
              </a:buClr>
              <a:buSzPts val="2000"/>
              <a:buNone/>
              <a:defRPr>
                <a:solidFill>
                  <a:srgbClr val="2E8C86"/>
                </a:solidFill>
              </a:defRPr>
            </a:lvl1pPr>
            <a:lvl2pPr indent="-342900" lvl="1" marL="914400" algn="l">
              <a:lnSpc>
                <a:spcPct val="144444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30200" lvl="2" marL="1371600" algn="l">
              <a:lnSpc>
                <a:spcPct val="1625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/>
            </a:lvl3pPr>
            <a:lvl4pPr indent="-317500" lvl="3" marL="1828800" algn="l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04800" lvl="4" marL="2286000" algn="l">
              <a:lnSpc>
                <a:spcPct val="216666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/>
            </a:lvl5pPr>
            <a:lvl6pPr indent="-3429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with No Subtitle Bulleted Text">
  <p:cSld name="Text with No Subtitle Bulleted 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457200" y="400050"/>
            <a:ext cx="8266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457200" y="1200150"/>
            <a:ext cx="82662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44444"/>
              </a:lnSpc>
              <a:spcBef>
                <a:spcPts val="400"/>
              </a:spcBef>
              <a:spcAft>
                <a:spcPts val="0"/>
              </a:spcAft>
              <a:buClr>
                <a:srgbClr val="2E8C86"/>
              </a:buClr>
              <a:buSzPts val="1800"/>
              <a:buFont typeface="Arial"/>
              <a:buChar char="•"/>
              <a:defRPr sz="1800">
                <a:solidFill>
                  <a:srgbClr val="2E8C86"/>
                </a:solidFill>
              </a:defRPr>
            </a:lvl1pPr>
            <a:lvl2pPr indent="-330200" lvl="1" marL="914400" algn="l">
              <a:lnSpc>
                <a:spcPct val="1625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216666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298450" lvl="4" marL="2286000" algn="l">
              <a:lnSpc>
                <a:spcPct val="23636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 sz="1100"/>
            </a:lvl5pPr>
            <a:lvl6pPr indent="-3429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ragraph with Image Bottom">
  <p:cSld name="Paragraph with Image Bottom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457200" y="400050"/>
            <a:ext cx="8266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457200" y="1200152"/>
            <a:ext cx="8266200" cy="23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E8C86"/>
              </a:buClr>
              <a:buSzPts val="1800"/>
              <a:buNone/>
              <a:defRPr sz="1800">
                <a:solidFill>
                  <a:srgbClr val="2E8C8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44444"/>
              </a:lnSpc>
              <a:spcBef>
                <a:spcPts val="400"/>
              </a:spcBef>
              <a:spcAft>
                <a:spcPts val="0"/>
              </a:spcAft>
              <a:buClr>
                <a:srgbClr val="9B1C2F"/>
              </a:buClr>
              <a:buSzPts val="1800"/>
              <a:buChar char="•"/>
              <a:defRPr>
                <a:solidFill>
                  <a:srgbClr val="9B1C2F"/>
                </a:solidFill>
              </a:defRPr>
            </a:lvl2pPr>
            <a:lvl3pPr indent="-330200" lvl="2" marL="1371600" algn="l">
              <a:lnSpc>
                <a:spcPct val="162500"/>
              </a:lnSpc>
              <a:spcBef>
                <a:spcPts val="400"/>
              </a:spcBef>
              <a:spcAft>
                <a:spcPts val="0"/>
              </a:spcAft>
              <a:buClr>
                <a:srgbClr val="9B1C2F"/>
              </a:buClr>
              <a:buSzPts val="1600"/>
              <a:buChar char="•"/>
              <a:defRPr>
                <a:solidFill>
                  <a:srgbClr val="9B1C2F"/>
                </a:solidFill>
              </a:defRPr>
            </a:lvl3pPr>
            <a:lvl4pPr indent="-317500" lvl="3" marL="1828800" algn="l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rgbClr val="9B1C2F"/>
              </a:buClr>
              <a:buSzPts val="1400"/>
              <a:buChar char="•"/>
              <a:defRPr>
                <a:solidFill>
                  <a:srgbClr val="9B1C2F"/>
                </a:solidFill>
              </a:defRPr>
            </a:lvl4pPr>
            <a:lvl5pPr indent="-304800" lvl="4" marL="2286000" algn="l">
              <a:lnSpc>
                <a:spcPct val="216666"/>
              </a:lnSpc>
              <a:spcBef>
                <a:spcPts val="400"/>
              </a:spcBef>
              <a:spcAft>
                <a:spcPts val="0"/>
              </a:spcAft>
              <a:buClr>
                <a:srgbClr val="9B1C2F"/>
              </a:buClr>
              <a:buSzPts val="1200"/>
              <a:buChar char="•"/>
              <a:defRPr>
                <a:solidFill>
                  <a:srgbClr val="9B1C2F"/>
                </a:solidFill>
              </a:defRPr>
            </a:lvl5pPr>
            <a:lvl6pPr indent="-3429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7"/>
          <p:cNvSpPr/>
          <p:nvPr>
            <p:ph idx="2" type="pic"/>
          </p:nvPr>
        </p:nvSpPr>
        <p:spPr>
          <a:xfrm>
            <a:off x="0" y="3657600"/>
            <a:ext cx="2304300" cy="10287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7"/>
          <p:cNvSpPr/>
          <p:nvPr>
            <p:ph idx="3" type="pic"/>
          </p:nvPr>
        </p:nvSpPr>
        <p:spPr>
          <a:xfrm>
            <a:off x="2353056" y="3657600"/>
            <a:ext cx="2231100" cy="10287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7"/>
          <p:cNvSpPr/>
          <p:nvPr>
            <p:ph idx="4" type="pic"/>
          </p:nvPr>
        </p:nvSpPr>
        <p:spPr>
          <a:xfrm>
            <a:off x="4632960" y="3657600"/>
            <a:ext cx="2231100" cy="10287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7"/>
          <p:cNvSpPr/>
          <p:nvPr>
            <p:ph idx="5" type="pic"/>
          </p:nvPr>
        </p:nvSpPr>
        <p:spPr>
          <a:xfrm>
            <a:off x="6912864" y="3657600"/>
            <a:ext cx="2231100" cy="1028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ragraph with Image Top">
  <p:cSld name="Paragraph with Image Top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457200" y="400050"/>
            <a:ext cx="8266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" type="body"/>
          </p:nvPr>
        </p:nvSpPr>
        <p:spPr>
          <a:xfrm>
            <a:off x="457200" y="2313335"/>
            <a:ext cx="8266200" cy="23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E8C86"/>
              </a:buClr>
              <a:buSzPts val="1800"/>
              <a:buNone/>
              <a:defRPr sz="1800">
                <a:solidFill>
                  <a:srgbClr val="2E8C8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44444"/>
              </a:lnSpc>
              <a:spcBef>
                <a:spcPts val="400"/>
              </a:spcBef>
              <a:spcAft>
                <a:spcPts val="0"/>
              </a:spcAft>
              <a:buClr>
                <a:srgbClr val="9B1C2F"/>
              </a:buClr>
              <a:buSzPts val="1800"/>
              <a:buChar char="•"/>
              <a:defRPr>
                <a:solidFill>
                  <a:srgbClr val="9B1C2F"/>
                </a:solidFill>
              </a:defRPr>
            </a:lvl2pPr>
            <a:lvl3pPr indent="-330200" lvl="2" marL="1371600" algn="l">
              <a:lnSpc>
                <a:spcPct val="162500"/>
              </a:lnSpc>
              <a:spcBef>
                <a:spcPts val="400"/>
              </a:spcBef>
              <a:spcAft>
                <a:spcPts val="0"/>
              </a:spcAft>
              <a:buClr>
                <a:srgbClr val="9B1C2F"/>
              </a:buClr>
              <a:buSzPts val="1600"/>
              <a:buChar char="•"/>
              <a:defRPr>
                <a:solidFill>
                  <a:srgbClr val="9B1C2F"/>
                </a:solidFill>
              </a:defRPr>
            </a:lvl3pPr>
            <a:lvl4pPr indent="-317500" lvl="3" marL="1828800" algn="l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rgbClr val="9B1C2F"/>
              </a:buClr>
              <a:buSzPts val="1400"/>
              <a:buChar char="•"/>
              <a:defRPr>
                <a:solidFill>
                  <a:srgbClr val="9B1C2F"/>
                </a:solidFill>
              </a:defRPr>
            </a:lvl4pPr>
            <a:lvl5pPr indent="-304800" lvl="4" marL="2286000" algn="l">
              <a:lnSpc>
                <a:spcPct val="216666"/>
              </a:lnSpc>
              <a:spcBef>
                <a:spcPts val="400"/>
              </a:spcBef>
              <a:spcAft>
                <a:spcPts val="0"/>
              </a:spcAft>
              <a:buClr>
                <a:srgbClr val="9B1C2F"/>
              </a:buClr>
              <a:buSzPts val="1200"/>
              <a:buChar char="•"/>
              <a:defRPr>
                <a:solidFill>
                  <a:srgbClr val="9B1C2F"/>
                </a:solidFill>
              </a:defRPr>
            </a:lvl5pPr>
            <a:lvl6pPr indent="-3429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8"/>
          <p:cNvSpPr/>
          <p:nvPr>
            <p:ph idx="2" type="pic"/>
          </p:nvPr>
        </p:nvSpPr>
        <p:spPr>
          <a:xfrm>
            <a:off x="0" y="1143000"/>
            <a:ext cx="2304300" cy="10287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8"/>
          <p:cNvSpPr/>
          <p:nvPr>
            <p:ph idx="3" type="pic"/>
          </p:nvPr>
        </p:nvSpPr>
        <p:spPr>
          <a:xfrm>
            <a:off x="2353056" y="1143000"/>
            <a:ext cx="2231100" cy="10287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8"/>
          <p:cNvSpPr/>
          <p:nvPr>
            <p:ph idx="4" type="pic"/>
          </p:nvPr>
        </p:nvSpPr>
        <p:spPr>
          <a:xfrm>
            <a:off x="4632960" y="1143000"/>
            <a:ext cx="2231100" cy="10287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8"/>
          <p:cNvSpPr/>
          <p:nvPr>
            <p:ph idx="5" type="pic"/>
          </p:nvPr>
        </p:nvSpPr>
        <p:spPr>
          <a:xfrm>
            <a:off x="6912864" y="1143000"/>
            <a:ext cx="2231100" cy="1028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with Image/Content  Right">
  <p:cSld name="Text with Image/Content  Righ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457200" y="400050"/>
            <a:ext cx="8266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457200" y="1200150"/>
            <a:ext cx="533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E8C86"/>
              </a:buClr>
              <a:buSzPts val="2000"/>
              <a:buNone/>
              <a:defRPr sz="2000">
                <a:solidFill>
                  <a:srgbClr val="2E8C86"/>
                </a:solidFill>
              </a:defRPr>
            </a:lvl1pPr>
            <a:lvl2pPr indent="-342900" lvl="1" marL="914400" algn="l">
              <a:lnSpc>
                <a:spcPct val="133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17142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7142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400"/>
            </a:lvl5pPr>
            <a:lvl6pPr indent="-3429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9"/>
          <p:cNvSpPr/>
          <p:nvPr>
            <p:ph idx="2" type="pic"/>
          </p:nvPr>
        </p:nvSpPr>
        <p:spPr>
          <a:xfrm>
            <a:off x="6126480" y="1200150"/>
            <a:ext cx="3017400" cy="3429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xt with Image/Content  Left">
  <p:cSld name="1_Text with Image/Content  Lef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457200" y="400050"/>
            <a:ext cx="8266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3352800" y="1200150"/>
            <a:ext cx="533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E8C86"/>
              </a:buClr>
              <a:buSzPts val="2000"/>
              <a:buNone/>
              <a:defRPr sz="2000">
                <a:solidFill>
                  <a:srgbClr val="2E8C86"/>
                </a:solidFill>
              </a:defRPr>
            </a:lvl1pPr>
            <a:lvl2pPr indent="-342900" lvl="1" marL="914400" algn="l">
              <a:lnSpc>
                <a:spcPct val="144444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1625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400"/>
            </a:lvl5pPr>
            <a:lvl6pPr indent="-3429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10"/>
          <p:cNvSpPr/>
          <p:nvPr>
            <p:ph idx="2" type="pic"/>
          </p:nvPr>
        </p:nvSpPr>
        <p:spPr>
          <a:xfrm>
            <a:off x="0" y="1177290"/>
            <a:ext cx="3090600" cy="3429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with Two Images Right">
  <p:cSld name="Text with Two Images Righ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400050"/>
            <a:ext cx="8266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457200" y="1200150"/>
            <a:ext cx="533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E8C86"/>
              </a:buClr>
              <a:buSzPts val="2000"/>
              <a:buNone/>
              <a:defRPr sz="2000">
                <a:solidFill>
                  <a:srgbClr val="2E8C86"/>
                </a:solidFill>
              </a:defRPr>
            </a:lvl1pPr>
            <a:lvl2pPr indent="-342900" lvl="1" marL="914400" algn="l">
              <a:lnSpc>
                <a:spcPct val="144444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1625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400"/>
            </a:lvl5pPr>
            <a:lvl6pPr indent="-3429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11"/>
          <p:cNvSpPr/>
          <p:nvPr>
            <p:ph idx="2" type="pic"/>
          </p:nvPr>
        </p:nvSpPr>
        <p:spPr>
          <a:xfrm>
            <a:off x="6126480" y="1200150"/>
            <a:ext cx="3017400" cy="16803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/>
          <p:nvPr>
            <p:ph idx="3" type="pic"/>
          </p:nvPr>
        </p:nvSpPr>
        <p:spPr>
          <a:xfrm>
            <a:off x="6126480" y="2945423"/>
            <a:ext cx="3017400" cy="1680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xt with Two Images Left">
  <p:cSld name="1_Text with Two Images Lef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>
            <a:off x="457200" y="400050"/>
            <a:ext cx="8266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3352800" y="1200150"/>
            <a:ext cx="533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E8C86"/>
              </a:buClr>
              <a:buSzPts val="2000"/>
              <a:buNone/>
              <a:defRPr sz="2000">
                <a:solidFill>
                  <a:srgbClr val="2E8C86"/>
                </a:solidFill>
              </a:defRPr>
            </a:lvl1pPr>
            <a:lvl2pPr indent="-342900" lvl="1" marL="914400" algn="l">
              <a:lnSpc>
                <a:spcPct val="144444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1625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400"/>
            </a:lvl5pPr>
            <a:lvl6pPr indent="-3429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2"/>
          <p:cNvSpPr/>
          <p:nvPr>
            <p:ph idx="2" type="pic"/>
          </p:nvPr>
        </p:nvSpPr>
        <p:spPr>
          <a:xfrm>
            <a:off x="76200" y="1200150"/>
            <a:ext cx="3017400" cy="16803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2"/>
          <p:cNvSpPr/>
          <p:nvPr>
            <p:ph idx="3" type="pic"/>
          </p:nvPr>
        </p:nvSpPr>
        <p:spPr>
          <a:xfrm>
            <a:off x="76200" y="2945423"/>
            <a:ext cx="3017400" cy="1680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Text/Content Boxes" type="twoObj">
  <p:cSld name="TWO_OBJECT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457200" y="400050"/>
            <a:ext cx="8266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457200" y="1200150"/>
            <a:ext cx="4038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44444"/>
              </a:lnSpc>
              <a:spcBef>
                <a:spcPts val="400"/>
              </a:spcBef>
              <a:spcAft>
                <a:spcPts val="0"/>
              </a:spcAft>
              <a:buClr>
                <a:srgbClr val="2E8C86"/>
              </a:buClr>
              <a:buSzPts val="1800"/>
              <a:buFont typeface="Arial"/>
              <a:buChar char="•"/>
              <a:defRPr sz="1800">
                <a:solidFill>
                  <a:srgbClr val="2E8C86"/>
                </a:solidFill>
              </a:defRPr>
            </a:lvl1pPr>
            <a:lvl2pPr indent="-330200" lvl="1" marL="914400" algn="l">
              <a:lnSpc>
                <a:spcPct val="1625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216666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216666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3429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7" name="Google Shape;87;p13"/>
          <p:cNvSpPr txBox="1"/>
          <p:nvPr>
            <p:ph idx="2" type="body"/>
          </p:nvPr>
        </p:nvSpPr>
        <p:spPr>
          <a:xfrm>
            <a:off x="4648200" y="1200150"/>
            <a:ext cx="4038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44444"/>
              </a:lnSpc>
              <a:spcBef>
                <a:spcPts val="400"/>
              </a:spcBef>
              <a:spcAft>
                <a:spcPts val="0"/>
              </a:spcAft>
              <a:buClr>
                <a:srgbClr val="2E8C86"/>
              </a:buClr>
              <a:buSzPts val="1800"/>
              <a:buFont typeface="Arial"/>
              <a:buChar char="•"/>
              <a:defRPr sz="1800">
                <a:solidFill>
                  <a:srgbClr val="2E8C86"/>
                </a:solidFill>
              </a:defRPr>
            </a:lvl1pPr>
            <a:lvl2pPr indent="-330200" lvl="1" marL="914400" algn="l">
              <a:lnSpc>
                <a:spcPct val="1625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216666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216666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3429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Text/Content Boxes with Titles" type="twoTxTwoObj">
  <p:cSld name="TWO_OBJECTS_WITH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400050"/>
            <a:ext cx="8266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028700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E8C86"/>
              </a:buClr>
              <a:buSzPts val="2000"/>
              <a:buNone/>
              <a:defRPr b="0" sz="2000">
                <a:solidFill>
                  <a:srgbClr val="2E8C86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44444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625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625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2" name="Google Shape;92;p14"/>
          <p:cNvSpPr txBox="1"/>
          <p:nvPr>
            <p:ph idx="2" type="body"/>
          </p:nvPr>
        </p:nvSpPr>
        <p:spPr>
          <a:xfrm>
            <a:off x="457200" y="1543050"/>
            <a:ext cx="40401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44444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625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216666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216666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3" type="body"/>
          </p:nvPr>
        </p:nvSpPr>
        <p:spPr>
          <a:xfrm>
            <a:off x="4645026" y="1028700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E8C86"/>
              </a:buClr>
              <a:buSzPts val="2000"/>
              <a:buNone/>
              <a:defRPr b="0" sz="2000">
                <a:solidFill>
                  <a:srgbClr val="2E8C86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44444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625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625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4" name="Google Shape;94;p14"/>
          <p:cNvSpPr txBox="1"/>
          <p:nvPr>
            <p:ph idx="4" type="body"/>
          </p:nvPr>
        </p:nvSpPr>
        <p:spPr>
          <a:xfrm>
            <a:off x="4645026" y="1543050"/>
            <a:ext cx="40419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44444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625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216666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216666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457200" y="400050"/>
            <a:ext cx="8266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vider Slide 3">
  <p:cSld name="1_Divider Slide 3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457200" y="2130029"/>
            <a:ext cx="77724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E8C86"/>
              </a:buClr>
              <a:buSzPts val="3000"/>
              <a:buFont typeface="Arial"/>
              <a:buNone/>
              <a:defRPr b="0" sz="3000" cap="none">
                <a:solidFill>
                  <a:srgbClr val="2E8C8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" type="body"/>
          </p:nvPr>
        </p:nvSpPr>
        <p:spPr>
          <a:xfrm>
            <a:off x="457200" y="268605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44444"/>
              </a:lnSpc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1800"/>
              <a:buNone/>
              <a:defRPr sz="1800">
                <a:solidFill>
                  <a:srgbClr val="B4888B"/>
                </a:solidFill>
              </a:defRPr>
            </a:lvl2pPr>
            <a:lvl3pPr indent="-228600" lvl="2" marL="1371600" algn="l">
              <a:lnSpc>
                <a:spcPct val="162500"/>
              </a:lnSpc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1600"/>
              <a:buNone/>
              <a:defRPr sz="1600">
                <a:solidFill>
                  <a:srgbClr val="B4888B"/>
                </a:solidFill>
              </a:defRPr>
            </a:lvl3pPr>
            <a:lvl4pPr indent="-228600" lvl="3" marL="1828800" algn="l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1400"/>
              <a:buNone/>
              <a:defRPr sz="1400">
                <a:solidFill>
                  <a:srgbClr val="B4888B"/>
                </a:solidFill>
              </a:defRPr>
            </a:lvl4pPr>
            <a:lvl5pPr indent="-228600" lvl="4" marL="2286000" algn="l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1400"/>
              <a:buNone/>
              <a:defRPr sz="1400">
                <a:solidFill>
                  <a:srgbClr val="B4888B"/>
                </a:solidFill>
              </a:defRPr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rgbClr val="B4888B"/>
              </a:buClr>
              <a:buSzPts val="1400"/>
              <a:buNone/>
              <a:defRPr sz="1400">
                <a:solidFill>
                  <a:srgbClr val="B4888B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B4888B"/>
              </a:buClr>
              <a:buSzPts val="1400"/>
              <a:buNone/>
              <a:defRPr sz="1400">
                <a:solidFill>
                  <a:srgbClr val="B4888B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B4888B"/>
              </a:buClr>
              <a:buSzPts val="1400"/>
              <a:buNone/>
              <a:defRPr sz="1400">
                <a:solidFill>
                  <a:srgbClr val="B4888B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B4888B"/>
              </a:buClr>
              <a:buSzPts val="1400"/>
              <a:buNone/>
              <a:defRPr sz="1400">
                <a:solidFill>
                  <a:srgbClr val="B4888B"/>
                </a:solidFill>
              </a:defRPr>
            </a:lvl9pPr>
          </a:lstStyle>
          <a:p/>
        </p:txBody>
      </p:sp>
      <p:sp>
        <p:nvSpPr>
          <p:cNvPr id="102" name="Google Shape;102;p16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ightbult-01.eps" id="105" name="Google Shape;10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0130" y="628652"/>
            <a:ext cx="653302" cy="1047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gnifying-glass.eps" id="106" name="Google Shape;1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5401" y="619125"/>
            <a:ext cx="609600" cy="10837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orn.eps" id="107" name="Google Shape;10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1" y="2076450"/>
            <a:ext cx="647701" cy="9905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lobe_magnifying_glass.eps" id="108" name="Google Shape;10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68600" y="2019300"/>
            <a:ext cx="1109967" cy="1066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lobe-mono.eps" id="109" name="Google Shape;10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48101" y="695325"/>
            <a:ext cx="962025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rows_four.eps" id="110" name="Google Shape;11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26101" y="7239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lloon_round.eps" id="111" name="Google Shape;11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73601" y="2000250"/>
            <a:ext cx="923925" cy="11421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llustration-K.eps" id="112" name="Google Shape;11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37300" y="1943100"/>
            <a:ext cx="110490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withArrow.eps" id="113" name="Google Shape;11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0601" y="3486151"/>
            <a:ext cx="1066800" cy="9144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one.eps" id="114" name="Google Shape;114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984500" y="3343275"/>
            <a:ext cx="767106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gration.eps" id="115" name="Google Shape;115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416801" y="676275"/>
            <a:ext cx="704850" cy="1002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Blank">
  <p:cSld name="10_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five-i.eps" id="118" name="Google Shape;11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400" y="581025"/>
            <a:ext cx="5460484" cy="9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1_mission.png" id="121" name="Google Shape;121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4-the-case-method.png" id="124" name="Google Shape;12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2.png" id="127" name="Google Shape;12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Blank">
  <p:cSld name="4_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3.png" id="130" name="Google Shape;13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Blank">
  <p:cSld name="5_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5.png" id="133" name="Google Shape;13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Blank">
  <p:cSld name="6_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6.png" id="136" name="Google Shape;13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Blank">
  <p:cSld name="7_Blank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.png" id="138" name="Google Shape;13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Blank">
  <p:cSld name="8_Blank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8.png" id="141" name="Google Shape;14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Blank">
  <p:cSld name="9_Blank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9.png" id="144" name="Google Shape;14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F">
  <p:cSld name="TITLE_AND_BODY_2_1_1_1_1_1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350350" y="169800"/>
            <a:ext cx="3505500" cy="8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350350" y="1198875"/>
            <a:ext cx="3505500" cy="24891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30200" lvl="2" marL="13716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04800" lvl="4" marL="22860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148" name="Google Shape;148;p28"/>
          <p:cNvSpPr/>
          <p:nvPr>
            <p:ph idx="2" type="pic"/>
          </p:nvPr>
        </p:nvSpPr>
        <p:spPr>
          <a:xfrm>
            <a:off x="4101622" y="169763"/>
            <a:ext cx="3518100" cy="3518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304800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457200" y="400050"/>
            <a:ext cx="8266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457200" y="1200150"/>
            <a:ext cx="82662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E8C86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2E8C8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44444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625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85714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216666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NameLogo-condensed-K.eps" id="14" name="Google Shape;14;p1"/>
          <p:cNvPicPr preferRelativeResize="0"/>
          <p:nvPr/>
        </p:nvPicPr>
        <p:blipFill rotWithShape="1">
          <a:blip r:embed="rId1">
            <a:alphaModFix amt="49000"/>
          </a:blip>
          <a:srcRect b="0" l="0" r="0" t="0"/>
          <a:stretch/>
        </p:blipFill>
        <p:spPr>
          <a:xfrm>
            <a:off x="5130801" y="4819650"/>
            <a:ext cx="2724151" cy="209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secareerexplorer.vercel.app" TargetMode="Externa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secareerexplorer.vercel.app/explore" TargetMode="External"/><Relationship Id="rId4" Type="http://schemas.openxmlformats.org/officeDocument/2006/relationships/hyperlink" Target="https://secareerexplorer.vercel.app/all-orgs/dashboard" TargetMode="External"/><Relationship Id="rId5" Type="http://schemas.openxmlformats.org/officeDocument/2006/relationships/hyperlink" Target="https://secareerexplorer.vercel.app/learn-more" TargetMode="External"/><Relationship Id="rId6" Type="http://schemas.openxmlformats.org/officeDocument/2006/relationships/hyperlink" Target="https://secareerexplorer.vercel.app/resources" TargetMode="External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hbs.edu/socialenterprise" TargetMode="External"/><Relationship Id="rId4" Type="http://schemas.openxmlformats.org/officeDocument/2006/relationships/image" Target="../media/image13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://secareerexplorer.vercel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ctrTitle"/>
          </p:nvPr>
        </p:nvSpPr>
        <p:spPr>
          <a:xfrm>
            <a:off x="457200" y="1847850"/>
            <a:ext cx="8089800" cy="79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/>
              <a:t>Social Enterprise Career Explorer</a:t>
            </a:r>
            <a:endParaRPr b="1"/>
          </a:p>
        </p:txBody>
      </p:sp>
      <p:sp>
        <p:nvSpPr>
          <p:cNvPr id="154" name="Google Shape;154;p29"/>
          <p:cNvSpPr txBox="1"/>
          <p:nvPr>
            <p:ph idx="1" type="subTitle"/>
          </p:nvPr>
        </p:nvSpPr>
        <p:spPr>
          <a:xfrm>
            <a:off x="457200" y="2581277"/>
            <a:ext cx="80898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85714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lang="en-US"/>
              <a:t>A living database of impact organizations built for the next generation of social impact leaders.</a:t>
            </a:r>
            <a:endParaRPr/>
          </a:p>
        </p:txBody>
      </p:sp>
      <p:sp>
        <p:nvSpPr>
          <p:cNvPr id="155" name="Google Shape;155;p29"/>
          <p:cNvSpPr txBox="1"/>
          <p:nvPr/>
        </p:nvSpPr>
        <p:spPr>
          <a:xfrm>
            <a:off x="457200" y="297907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 xml:space="preserve">→ </a:t>
            </a:r>
            <a:r>
              <a:rPr b="1" lang="en-US" sz="15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secareerexplorer.vercel.app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457200" y="400050"/>
            <a:ext cx="8266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61" name="Google Shape;161;p30"/>
          <p:cNvSpPr/>
          <p:nvPr/>
        </p:nvSpPr>
        <p:spPr>
          <a:xfrm>
            <a:off x="551725" y="1755319"/>
            <a:ext cx="2598600" cy="2859300"/>
          </a:xfrm>
          <a:prstGeom prst="roundRect">
            <a:avLst>
              <a:gd fmla="val 878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0"/>
          <p:cNvSpPr/>
          <p:nvPr/>
        </p:nvSpPr>
        <p:spPr>
          <a:xfrm>
            <a:off x="3338275" y="1755319"/>
            <a:ext cx="2598600" cy="2859300"/>
          </a:xfrm>
          <a:prstGeom prst="roundRect">
            <a:avLst>
              <a:gd fmla="val 878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0"/>
          <p:cNvSpPr/>
          <p:nvPr/>
        </p:nvSpPr>
        <p:spPr>
          <a:xfrm>
            <a:off x="6124800" y="1755319"/>
            <a:ext cx="2598600" cy="2826000"/>
          </a:xfrm>
          <a:prstGeom prst="roundRect">
            <a:avLst>
              <a:gd fmla="val 878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662900" y="2164711"/>
            <a:ext cx="2278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8C86"/>
              </a:buClr>
              <a:buSzPts val="2000"/>
              <a:buNone/>
            </a:pPr>
            <a:r>
              <a:rPr lang="en-US" sz="1800">
                <a:solidFill>
                  <a:schemeClr val="lt1"/>
                </a:solidFill>
              </a:rPr>
              <a:t xml:space="preserve">Help students </a:t>
            </a:r>
            <a:r>
              <a:rPr b="1" lang="en-US" sz="1800">
                <a:solidFill>
                  <a:schemeClr val="lt1"/>
                </a:solidFill>
              </a:rPr>
              <a:t>understand</a:t>
            </a:r>
            <a:r>
              <a:rPr lang="en-US" sz="1800">
                <a:solidFill>
                  <a:schemeClr val="lt1"/>
                </a:solidFill>
              </a:rPr>
              <a:t xml:space="preserve"> and </a:t>
            </a:r>
            <a:r>
              <a:rPr b="1" lang="en-US" sz="1800">
                <a:solidFill>
                  <a:schemeClr val="lt1"/>
                </a:solidFill>
              </a:rPr>
              <a:t>find HBS-aligned organizations</a:t>
            </a:r>
            <a:r>
              <a:rPr lang="en-US" sz="1800">
                <a:solidFill>
                  <a:schemeClr val="lt1"/>
                </a:solidFill>
              </a:rPr>
              <a:t xml:space="preserve"> faster, </a:t>
            </a:r>
            <a:r>
              <a:rPr b="1" lang="en-US" sz="1800">
                <a:solidFill>
                  <a:schemeClr val="lt1"/>
                </a:solidFill>
              </a:rPr>
              <a:t>accelerating the transition</a:t>
            </a:r>
            <a:r>
              <a:rPr lang="en-US" sz="1800">
                <a:solidFill>
                  <a:schemeClr val="lt1"/>
                </a:solidFill>
              </a:rPr>
              <a:t xml:space="preserve"> into the space.</a:t>
            </a:r>
            <a:r>
              <a:rPr lang="en-US" sz="1800">
                <a:solidFill>
                  <a:schemeClr val="lt1"/>
                </a:solidFill>
              </a:rPr>
              <a:t xml:space="preserve"> </a:t>
            </a:r>
            <a:endParaRPr sz="1800"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3419256" y="1928761"/>
            <a:ext cx="2436600" cy="25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8C86"/>
              </a:buClr>
              <a:buSzPts val="2000"/>
              <a:buNone/>
            </a:pPr>
            <a:r>
              <a:rPr lang="en-US" sz="1800">
                <a:solidFill>
                  <a:schemeClr val="lt1"/>
                </a:solidFill>
              </a:rPr>
              <a:t>Build</a:t>
            </a:r>
            <a:r>
              <a:rPr lang="en-US" sz="1800">
                <a:solidFill>
                  <a:schemeClr val="lt1"/>
                </a:solidFill>
              </a:rPr>
              <a:t xml:space="preserve"> a structured and </a:t>
            </a:r>
            <a:r>
              <a:rPr b="1" lang="en-US" sz="1800">
                <a:solidFill>
                  <a:schemeClr val="lt1"/>
                </a:solidFill>
              </a:rPr>
              <a:t>actionable</a:t>
            </a:r>
            <a:r>
              <a:rPr lang="en-US" sz="1800">
                <a:solidFill>
                  <a:schemeClr val="lt1"/>
                </a:solidFill>
              </a:rPr>
              <a:t xml:space="preserve"> database, with a focus on </a:t>
            </a:r>
            <a:r>
              <a:rPr b="1" lang="en-US" sz="1800">
                <a:solidFill>
                  <a:schemeClr val="lt1"/>
                </a:solidFill>
              </a:rPr>
              <a:t>high-signal/quality</a:t>
            </a:r>
            <a:r>
              <a:rPr lang="en-US" sz="1800">
                <a:solidFill>
                  <a:schemeClr val="lt1"/>
                </a:solidFill>
              </a:rPr>
              <a:t>:</a:t>
            </a:r>
            <a:endParaRPr sz="1800">
              <a:solidFill>
                <a:schemeClr val="lt1"/>
              </a:solidFill>
            </a:endParaRPr>
          </a:p>
          <a:p>
            <a:pPr indent="-254000" lvl="0" marL="28575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n-US" sz="1300">
                <a:solidFill>
                  <a:schemeClr val="lt1"/>
                </a:solidFill>
              </a:rPr>
              <a:t>HBS grads or Faculty in the team</a:t>
            </a:r>
            <a:endParaRPr sz="1300">
              <a:solidFill>
                <a:schemeClr val="lt1"/>
              </a:solidFill>
            </a:endParaRPr>
          </a:p>
          <a:p>
            <a:pPr indent="-2540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n-US" sz="1300">
                <a:solidFill>
                  <a:schemeClr val="lt1"/>
                </a:solidFill>
              </a:rPr>
              <a:t>Size/Budget/Growth that allows MBA hiring</a:t>
            </a:r>
            <a:endParaRPr sz="1300">
              <a:solidFill>
                <a:schemeClr val="lt1"/>
              </a:solidFill>
            </a:endParaRPr>
          </a:p>
          <a:p>
            <a:pPr indent="-2540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n-US" sz="1300">
                <a:solidFill>
                  <a:schemeClr val="lt1"/>
                </a:solidFill>
              </a:rPr>
              <a:t>Recognized leaders in their field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66" name="Google Shape;166;p30"/>
          <p:cNvSpPr txBox="1"/>
          <p:nvPr/>
        </p:nvSpPr>
        <p:spPr>
          <a:xfrm>
            <a:off x="6334050" y="1980061"/>
            <a:ext cx="2205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 xml:space="preserve">Synthesize </a:t>
            </a:r>
            <a:r>
              <a:rPr b="1" lang="en-US" sz="1800">
                <a:solidFill>
                  <a:schemeClr val="lt1"/>
                </a:solidFill>
              </a:rPr>
              <a:t>internal HBS resources</a:t>
            </a:r>
            <a:r>
              <a:rPr lang="en-US" sz="1800">
                <a:solidFill>
                  <a:schemeClr val="lt1"/>
                </a:solidFill>
              </a:rPr>
              <a:t xml:space="preserve"> (e.g. second year cases) with </a:t>
            </a:r>
            <a:r>
              <a:rPr b="1" lang="en-US" sz="1800">
                <a:solidFill>
                  <a:schemeClr val="lt1"/>
                </a:solidFill>
              </a:rPr>
              <a:t>external resources</a:t>
            </a:r>
            <a:r>
              <a:rPr lang="en-US" sz="1800">
                <a:solidFill>
                  <a:schemeClr val="lt1"/>
                </a:solidFill>
              </a:rPr>
              <a:t xml:space="preserve"> to continue the journey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67" name="Google Shape;167;p30"/>
          <p:cNvSpPr txBox="1"/>
          <p:nvPr>
            <p:ph type="title"/>
          </p:nvPr>
        </p:nvSpPr>
        <p:spPr>
          <a:xfrm>
            <a:off x="551725" y="1040601"/>
            <a:ext cx="8266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</a:pPr>
            <a:r>
              <a:rPr i="1" lang="en-US" sz="2000"/>
              <a:t xml:space="preserve">A curated, high-value resource to </a:t>
            </a:r>
            <a:r>
              <a:rPr b="1" i="1" lang="en-US" sz="2000"/>
              <a:t>jumpstart</a:t>
            </a:r>
            <a:r>
              <a:rPr i="1" lang="en-US" sz="2000"/>
              <a:t xml:space="preserve"> their search for impact-aligned summer/full-time roles. A database of databases</a:t>
            </a:r>
            <a:endParaRPr i="1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438900" y="306575"/>
            <a:ext cx="8266200" cy="549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What we did</a:t>
            </a:r>
            <a:endParaRPr sz="2400"/>
          </a:p>
        </p:txBody>
      </p:sp>
      <p:sp>
        <p:nvSpPr>
          <p:cNvPr id="174" name="Google Shape;174;p31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31"/>
          <p:cNvSpPr txBox="1"/>
          <p:nvPr/>
        </p:nvSpPr>
        <p:spPr>
          <a:xfrm>
            <a:off x="4689301" y="1245175"/>
            <a:ext cx="39168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  <a:buSzPts val="1400"/>
              <a:buChar char="●"/>
            </a:pPr>
            <a:r>
              <a:rPr lang="en-US">
                <a:solidFill>
                  <a:schemeClr val="accent1"/>
                </a:solidFill>
              </a:rPr>
              <a:t xml:space="preserve">Collected </a:t>
            </a:r>
            <a:r>
              <a:rPr b="1" lang="en-US">
                <a:solidFill>
                  <a:schemeClr val="accent1"/>
                </a:solidFill>
              </a:rPr>
              <a:t>510+ orgs</a:t>
            </a:r>
            <a:r>
              <a:rPr lang="en-US">
                <a:solidFill>
                  <a:schemeClr val="accent1"/>
                </a:solidFill>
              </a:rPr>
              <a:t xml:space="preserve"> across HBS cases, fellowship partners</a:t>
            </a:r>
          </a:p>
          <a:p>
            <a:pPr indent="-317500" lvl="0" marL="457200" marR="0" rtl="0" algn="l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  <a:buSzPts val="1400"/>
              <a:buChar char="●"/>
            </a:pPr>
            <a:r>
              <a:rPr lang="en-US">
                <a:solidFill>
                  <a:schemeClr val="accent1"/>
                </a:solidFill>
              </a:rPr>
              <a:t xml:space="preserve">Reviewed </a:t>
            </a:r>
            <a:r>
              <a:rPr b="1" lang="en-US">
                <a:solidFill>
                  <a:schemeClr val="accent1"/>
                </a:solidFill>
              </a:rPr>
              <a:t>taxonomy</a:t>
            </a:r>
            <a:r>
              <a:rPr lang="en-US">
                <a:solidFill>
                  <a:schemeClr val="accent1"/>
                </a:solidFill>
              </a:rPr>
              <a:t xml:space="preserve"> with Baker Library and </a:t>
            </a:r>
            <a:r>
              <a:rPr b="1" lang="en-US">
                <a:solidFill>
                  <a:schemeClr val="accent1"/>
                </a:solidFill>
              </a:rPr>
              <a:t>schema</a:t>
            </a:r>
            <a:r>
              <a:rPr lang="en-US">
                <a:solidFill>
                  <a:schemeClr val="accent1"/>
                </a:solidFill>
              </a:rPr>
              <a:t xml:space="preserve"> with HBS Executive Fellow, Gerald, Brian, CPD and SEI</a:t>
            </a:r>
          </a:p>
          <a:p>
            <a:pPr indent="-317500" lvl="0" marL="457200" marR="0" rtl="0" algn="l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  <a:buSzPts val="1400"/>
              <a:buChar char="●"/>
            </a:pPr>
            <a:r>
              <a:rPr lang="en-US">
                <a:solidFill>
                  <a:schemeClr val="accent1"/>
                </a:solidFill>
              </a:rPr>
              <a:t xml:space="preserve">Built </a:t>
            </a:r>
            <a:r>
              <a:rPr b="1" lang="en-US">
                <a:solidFill>
                  <a:schemeClr val="accent1"/>
                </a:solidFill>
              </a:rPr>
              <a:t>full stack</a:t>
            </a:r>
            <a:r>
              <a:rPr lang="en-US">
                <a:solidFill>
                  <a:schemeClr val="accent1"/>
                </a:solidFill>
              </a:rPr>
              <a:t xml:space="preserve"> with Claude, Vercel hosting and Supabase (DB management)</a:t>
            </a:r>
          </a:p>
          <a:p>
            <a:pPr indent="-317500" lvl="0" marL="457200" marR="0" rtl="0" algn="l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  <a:buSzPts val="1400"/>
              <a:buChar char="●"/>
            </a:pPr>
            <a:r>
              <a:rPr lang="en-US">
                <a:solidFill>
                  <a:schemeClr val="accent1"/>
                </a:solidFill>
              </a:rPr>
              <a:t xml:space="preserve">Iterated with </a:t>
            </a:r>
            <a:r>
              <a:rPr b="1" lang="en-US">
                <a:solidFill>
                  <a:schemeClr val="accent1"/>
                </a:solidFill>
              </a:rPr>
              <a:t>student feedback</a:t>
            </a:r>
            <a:r>
              <a:rPr lang="en-US">
                <a:solidFill>
                  <a:schemeClr val="accent1"/>
                </a:solidFill>
              </a:rPr>
              <a:t xml:space="preserve"> (5 interviews)</a:t>
            </a:r>
          </a:p>
          <a:p>
            <a:pPr indent="-317500" lvl="0" marL="457200" marR="0" rtl="0" algn="l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  <a:buSzPts val="1400"/>
              <a:buChar char="●"/>
            </a:pPr>
            <a:r>
              <a:rPr lang="en-US">
                <a:solidFill>
                  <a:schemeClr val="accent1"/>
                </a:solidFill>
              </a:rPr>
              <a:t xml:space="preserve">Incorporated </a:t>
            </a:r>
            <a:r>
              <a:rPr b="1" lang="en-US">
                <a:solidFill>
                  <a:schemeClr val="accent1"/>
                </a:solidFill>
              </a:rPr>
              <a:t>XX resources</a:t>
            </a:r>
            <a:r>
              <a:rPr lang="en-US">
                <a:solidFill>
                  <a:schemeClr val="accent1"/>
                </a:solidFill>
              </a:rPr>
              <a:t xml:space="preserve"> for students to keep exploring</a:t>
            </a:r>
          </a:p>
        </p:txBody>
      </p:sp>
      <p:pic>
        <p:nvPicPr>
          <p:cNvPr id="176" name="Google Shape;176;p31" title="Screenshot 2026-03-26 at 4.57.22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500" y="1007325"/>
            <a:ext cx="2565576" cy="3027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31" title="Screenshot 2026-03-26 at 4.56.23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81874" y="2330375"/>
            <a:ext cx="2565577" cy="213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ahyp="http://schemas.microsoft.com/office/drawing/2018/hyperlinkcolor" xmlns:p="http://schemas.openxmlformats.org/presentationml/2006/main" xmlns:r="http://schemas.openxmlformats.org/officeDocument/2006/relationships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438900" y="306575"/>
            <a:ext cx="8266200" cy="549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Next Steps / Open Questions</a:t>
            </a:r>
            <a:endParaRPr sz="2400"/>
          </a:p>
        </p:txBody>
      </p:sp>
      <p:sp>
        <p:nvSpPr>
          <p:cNvPr id="191" name="Google Shape;191;p33"/>
          <p:cNvSpPr txBox="1"/>
          <p:nvPr>
            <p:ph idx="12" type="sldNum"/>
          </p:nvPr>
        </p:nvSpPr>
        <p:spPr>
          <a:xfrm>
            <a:off x="457200" y="4812508"/>
            <a:ext cx="3657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33"/>
          <p:cNvSpPr txBox="1"/>
          <p:nvPr/>
        </p:nvSpPr>
        <p:spPr>
          <a:xfrm>
            <a:off x="1589650" y="1969275"/>
            <a:ext cx="3355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en-US">
                <a:solidFill>
                  <a:schemeClr val="dk2"/>
                </a:solidFill>
              </a:rPr>
              <a:t>Where should it live?</a:t>
            </a:r>
          </a:p>
          <a:p>
            <a:pPr indent="-317500" lvl="1" marL="914400" marR="0" rtl="0" algn="l">
              <a:spcBef>
                <a:spcPts val="0"/>
              </a:spcBef>
              <a:spcAft>
                <a:spcPts val="200"/>
              </a:spcAft>
              <a:buClr>
                <a:schemeClr val="dk2"/>
              </a:buClr>
              <a:buSzPts val="1400"/>
              <a:buChar char="○"/>
            </a:pPr>
            <a:r>
              <a:rPr lang="en-US">
                <a:solidFill>
                  <a:schemeClr val="dk2"/>
                </a:solidFill>
              </a:rPr>
              <a:t>SEI website vs. SE Club website</a:t>
            </a:r>
          </a:p>
          <a:p>
            <a:pPr indent="-317500" lvl="0" marL="457200" marR="0" rtl="0" algn="l">
              <a:spcBef>
                <a:spcPts val="400"/>
              </a:spcBef>
              <a:spcAft>
                <a:spcPts val="400"/>
              </a:spcAft>
              <a:buClr>
                <a:schemeClr val="dk2"/>
              </a:buClr>
              <a:buSzPts val="1400"/>
              <a:buChar char="●"/>
            </a:pPr>
            <a:r>
              <a:rPr b="1" lang="en-US">
                <a:solidFill>
                  <a:schemeClr val="dk2"/>
                </a:solidFill>
              </a:rPr>
              <a:t>Long-term ownership and maintenance</a:t>
            </a:r>
          </a:p>
          <a:p>
            <a:pPr indent="-317500" lvl="0" marL="457200" marR="0" rtl="0" algn="l">
              <a:spcBef>
                <a:spcPts val="400"/>
              </a:spcBef>
              <a:spcAft>
                <a:spcPts val="400"/>
              </a:spcAft>
              <a:buClr>
                <a:schemeClr val="dk2"/>
              </a:buClr>
              <a:buSzPts val="1400"/>
              <a:buChar char="●"/>
            </a:pPr>
            <a:r>
              <a:rPr b="1" lang="en-US">
                <a:solidFill>
                  <a:schemeClr val="dk2"/>
                </a:solidFill>
              </a:rPr>
              <a:t>HBS login integration</a:t>
            </a:r>
          </a:p>
        </p:txBody>
      </p:sp>
      <p:sp>
        <p:nvSpPr>
          <p:cNvPr id="193" name="Google Shape;193;p33"/>
          <p:cNvSpPr/>
          <p:nvPr/>
        </p:nvSpPr>
        <p:spPr>
          <a:xfrm>
            <a:off x="1589650" y="1245175"/>
            <a:ext cx="3436200" cy="549000"/>
          </a:xfrm>
          <a:prstGeom prst="roundRect">
            <a:avLst>
              <a:gd fmla="val 878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Hosting &amp; Infrastructure</a:t>
            </a:r>
          </a:p>
        </p:txBody>
      </p:sp>
      <p:sp>
        <p:nvSpPr>
          <p:cNvPr id="194" name="Google Shape;194;p33"/>
          <p:cNvSpPr txBox="1"/>
          <p:nvPr/>
        </p:nvSpPr>
        <p:spPr>
          <a:xfrm>
            <a:off x="5269132" y="1969275"/>
            <a:ext cx="34362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en-US">
                <a:solidFill>
                  <a:schemeClr val="dk2"/>
                </a:solidFill>
              </a:rPr>
              <a:t>Expanding the database</a:t>
            </a:r>
          </a:p>
          <a:p>
            <a:pPr indent="-317500" lvl="1" marL="914400" marR="0" rtl="0" algn="l">
              <a:spcBef>
                <a:spcPts val="0"/>
              </a:spcBef>
              <a:spcAft>
                <a:spcPts val="200"/>
              </a:spcAft>
              <a:buClr>
                <a:schemeClr val="dk2"/>
              </a:buClr>
              <a:buSzPts val="1400"/>
              <a:buChar char="○"/>
            </a:pPr>
            <a:r>
              <a:rPr lang="en-US">
                <a:solidFill>
                  <a:schemeClr val="dk2"/>
                </a:solidFill>
              </a:rPr>
              <a:t>What exceptional orgs are we missing?</a:t>
            </a:r>
          </a:p>
          <a:p>
            <a:pPr indent="-317500" lvl="0" marL="457200" marR="0" rtl="0" algn="l">
              <a:spcBef>
                <a:spcPts val="400"/>
              </a:spcBef>
              <a:spcAft>
                <a:spcPts val="400"/>
              </a:spcAft>
              <a:buClr>
                <a:schemeClr val="dk2"/>
              </a:buClr>
              <a:buSzPts val="1400"/>
              <a:buChar char="●"/>
            </a:pPr>
            <a:r>
              <a:rPr b="1" lang="en-US">
                <a:solidFill>
                  <a:schemeClr val="dk2"/>
                </a:solidFill>
              </a:rPr>
              <a:t>Connecting to 12twenty and alumni data</a:t>
            </a:r>
          </a:p>
          <a:p>
            <a:pPr indent="-317500" lvl="0" marL="457200" marR="0" rtl="0" algn="l">
              <a:spcBef>
                <a:spcPts val="400"/>
              </a:spcBef>
              <a:spcAft>
                <a:spcPts val="400"/>
              </a:spcAft>
              <a:buClr>
                <a:schemeClr val="dk2"/>
              </a:buClr>
              <a:buSzPts val="1400"/>
              <a:buChar char="●"/>
            </a:pPr>
            <a:r>
              <a:rPr b="1" lang="en-US">
                <a:solidFill>
                  <a:schemeClr val="dk2"/>
                </a:solidFill>
              </a:rPr>
              <a:t>Faculty feedback and guidance</a:t>
            </a:r>
          </a:p>
        </p:txBody>
      </p:sp>
      <p:sp>
        <p:nvSpPr>
          <p:cNvPr id="195" name="Google Shape;195;p33"/>
          <p:cNvSpPr/>
          <p:nvPr/>
        </p:nvSpPr>
        <p:spPr>
          <a:xfrm>
            <a:off x="5269119" y="1245175"/>
            <a:ext cx="3436200" cy="549000"/>
          </a:xfrm>
          <a:prstGeom prst="roundRect">
            <a:avLst>
              <a:gd fmla="val 878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Content &amp; Growth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ctrTitle"/>
          </p:nvPr>
        </p:nvSpPr>
        <p:spPr>
          <a:xfrm>
            <a:off x="457200" y="1847850"/>
            <a:ext cx="8089800" cy="79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/>
              <a:t>Demo Time</a:t>
            </a:r>
            <a:endParaRPr b="1"/>
          </a:p>
        </p:txBody>
      </p:sp>
      <p:sp>
        <p:nvSpPr>
          <p:cNvPr id="154" name="Google Shape;154;p29"/>
          <p:cNvSpPr txBox="1"/>
          <p:nvPr>
            <p:ph idx="1" type="subTitle"/>
          </p:nvPr>
        </p:nvSpPr>
        <p:spPr>
          <a:xfrm>
            <a:off x="457200" y="2581277"/>
            <a:ext cx="80898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85714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lang="en-US"/>
              <a:t>secareerexplorer.vercel.app</a:t>
            </a:r>
            <a:endParaRPr/>
          </a:p>
        </p:txBody>
      </p:sp>
      <p:sp>
        <p:nvSpPr>
          <p:cNvPr id="155" name="Google Shape;155;p29"/>
          <p:cNvSpPr txBox="1"/>
          <p:nvPr/>
        </p:nvSpPr>
        <p:spPr>
          <a:xfrm>
            <a:off x="457200" y="297907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/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6">
      <a:dk1>
        <a:srgbClr val="90002A"/>
      </a:dk1>
      <a:lt1>
        <a:srgbClr val="FFFFFF"/>
      </a:lt1>
      <a:dk2>
        <a:srgbClr val="000000"/>
      </a:dk2>
      <a:lt2>
        <a:srgbClr val="C2C4C3"/>
      </a:lt2>
      <a:accent1>
        <a:srgbClr val="3EBBB2"/>
      </a:accent1>
      <a:accent2>
        <a:srgbClr val="CED665"/>
      </a:accent2>
      <a:accent3>
        <a:srgbClr val="93E7F5"/>
      </a:accent3>
      <a:accent4>
        <a:srgbClr val="FCD4A1"/>
      </a:accent4>
      <a:accent5>
        <a:srgbClr val="DC4230"/>
      </a:accent5>
      <a:accent6>
        <a:srgbClr val="EFA545"/>
      </a:accent6>
      <a:hlink>
        <a:srgbClr val="4BB4B9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